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2" r:id="rId10"/>
    <p:sldId id="265" r:id="rId11"/>
  </p:sldIdLst>
  <p:sldSz cx="18288000" cy="10287000"/>
  <p:notesSz cx="6858000" cy="9144000"/>
  <p:embeddedFontLst>
    <p:embeddedFont>
      <p:font typeface="Gilda Display" panose="020B0604020202020204" charset="0"/>
      <p:regular r:id="rId12"/>
    </p:embeddedFont>
    <p:embeddedFont>
      <p:font typeface="HK Grotesk Bold" panose="020B0604020202020204" charset="0"/>
      <p:regular r:id="rId13"/>
    </p:embeddedFont>
    <p:embeddedFont>
      <p:font typeface="HK Grotesk Light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1" d="100"/>
          <a:sy n="51" d="100"/>
        </p:scale>
        <p:origin x="1766" y="2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9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jpeg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611225" y="6787402"/>
            <a:ext cx="10936025" cy="10299747"/>
          </a:xfrm>
          <a:custGeom>
            <a:avLst/>
            <a:gdLst/>
            <a:ahLst/>
            <a:cxnLst/>
            <a:rect l="l" t="t" r="r" b="b"/>
            <a:pathLst>
              <a:path w="10936025" h="10299747">
                <a:moveTo>
                  <a:pt x="0" y="0"/>
                </a:moveTo>
                <a:lnTo>
                  <a:pt x="10936025" y="0"/>
                </a:lnTo>
                <a:lnTo>
                  <a:pt x="10936025" y="10299747"/>
                </a:lnTo>
                <a:lnTo>
                  <a:pt x="0" y="102997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3" name="Group 3"/>
          <p:cNvGrpSpPr/>
          <p:nvPr/>
        </p:nvGrpSpPr>
        <p:grpSpPr>
          <a:xfrm>
            <a:off x="739881" y="895350"/>
            <a:ext cx="8215239" cy="8953500"/>
            <a:chOff x="0" y="0"/>
            <a:chExt cx="1272756" cy="138713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72756" cy="1387131"/>
            </a:xfrm>
            <a:custGeom>
              <a:avLst/>
              <a:gdLst/>
              <a:ahLst/>
              <a:cxnLst/>
              <a:rect l="l" t="t" r="r" b="b"/>
              <a:pathLst>
                <a:path w="1272756" h="1387131">
                  <a:moveTo>
                    <a:pt x="37695" y="0"/>
                  </a:moveTo>
                  <a:lnTo>
                    <a:pt x="1235060" y="0"/>
                  </a:lnTo>
                  <a:cubicBezTo>
                    <a:pt x="1245058" y="0"/>
                    <a:pt x="1254646" y="3971"/>
                    <a:pt x="1261715" y="11041"/>
                  </a:cubicBezTo>
                  <a:cubicBezTo>
                    <a:pt x="1268784" y="18110"/>
                    <a:pt x="1272756" y="27698"/>
                    <a:pt x="1272756" y="37695"/>
                  </a:cubicBezTo>
                  <a:lnTo>
                    <a:pt x="1272756" y="1349436"/>
                  </a:lnTo>
                  <a:cubicBezTo>
                    <a:pt x="1272756" y="1359433"/>
                    <a:pt x="1268784" y="1369021"/>
                    <a:pt x="1261715" y="1376091"/>
                  </a:cubicBezTo>
                  <a:cubicBezTo>
                    <a:pt x="1254646" y="1383160"/>
                    <a:pt x="1245058" y="1387131"/>
                    <a:pt x="1235060" y="1387131"/>
                  </a:cubicBezTo>
                  <a:lnTo>
                    <a:pt x="37695" y="1387131"/>
                  </a:lnTo>
                  <a:cubicBezTo>
                    <a:pt x="16877" y="1387131"/>
                    <a:pt x="0" y="1370255"/>
                    <a:pt x="0" y="1349436"/>
                  </a:cubicBezTo>
                  <a:lnTo>
                    <a:pt x="0" y="37695"/>
                  </a:lnTo>
                  <a:cubicBezTo>
                    <a:pt x="0" y="27698"/>
                    <a:pt x="3971" y="18110"/>
                    <a:pt x="11041" y="11041"/>
                  </a:cubicBezTo>
                  <a:cubicBezTo>
                    <a:pt x="18110" y="3971"/>
                    <a:pt x="27698" y="0"/>
                    <a:pt x="37695" y="0"/>
                  </a:cubicBezTo>
                  <a:close/>
                </a:path>
              </a:pathLst>
            </a:custGeom>
            <a:blipFill>
              <a:blip r:embed="rId4"/>
              <a:stretch>
                <a:fillRect l="-2313" r="-2313"/>
              </a:stretch>
            </a:blipFill>
            <a:ln w="28575" cap="rnd">
              <a:solidFill>
                <a:srgbClr val="FFFFFF"/>
              </a:solidFill>
              <a:prstDash val="solid"/>
              <a:round/>
            </a:ln>
          </p:spPr>
        </p:sp>
      </p:grpSp>
      <p:grpSp>
        <p:nvGrpSpPr>
          <p:cNvPr id="5" name="Group 5"/>
          <p:cNvGrpSpPr/>
          <p:nvPr/>
        </p:nvGrpSpPr>
        <p:grpSpPr>
          <a:xfrm>
            <a:off x="9971357" y="1161784"/>
            <a:ext cx="7320844" cy="4539228"/>
            <a:chOff x="0" y="-38100"/>
            <a:chExt cx="9761126" cy="6052304"/>
          </a:xfrm>
        </p:grpSpPr>
        <p:sp>
          <p:nvSpPr>
            <p:cNvPr id="6" name="TextBox 6"/>
            <p:cNvSpPr txBox="1"/>
            <p:nvPr/>
          </p:nvSpPr>
          <p:spPr>
            <a:xfrm>
              <a:off x="0" y="2709632"/>
              <a:ext cx="9761126" cy="33045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9354"/>
                </a:lnSpc>
              </a:pPr>
              <a:r>
                <a:rPr lang="en-US" sz="9354" dirty="0" err="1">
                  <a:solidFill>
                    <a:srgbClr val="0BD3F4"/>
                  </a:solidFill>
                  <a:latin typeface="Gilda Display"/>
                  <a:ea typeface="Gilda Display"/>
                  <a:cs typeface="Gilda Display"/>
                  <a:sym typeface="Gilda Display"/>
                </a:rPr>
                <a:t>CryptoTrack</a:t>
              </a:r>
              <a:r>
                <a:rPr lang="en-US" sz="9354" dirty="0">
                  <a:solidFill>
                    <a:srgbClr val="0BD3F4"/>
                  </a:solidFill>
                  <a:latin typeface="Gilda Display"/>
                  <a:ea typeface="Gilda Display"/>
                  <a:cs typeface="Gilda Display"/>
                  <a:sym typeface="Gilda Display"/>
                </a:rPr>
                <a:t> Pro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9761126" cy="51243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74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9971358" y="5448300"/>
            <a:ext cx="7268036" cy="49634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319"/>
              </a:lnSpc>
            </a:pPr>
            <a:endParaRPr lang="en-US" sz="3599" b="1" dirty="0">
              <a:solidFill>
                <a:srgbClr val="FFFFFF"/>
              </a:solidFill>
              <a:latin typeface="HK Grotesk Bold"/>
              <a:ea typeface="HK Grotesk Bold"/>
              <a:cs typeface="HK Grotesk Bold"/>
              <a:sym typeface="HK Grotesk Bold"/>
            </a:endParaRPr>
          </a:p>
          <a:p>
            <a:pPr algn="ctr">
              <a:lnSpc>
                <a:spcPts val="4319"/>
              </a:lnSpc>
            </a:pPr>
            <a:r>
              <a:rPr lang="en-US" sz="3599" b="1" dirty="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Presented By</a:t>
            </a:r>
          </a:p>
          <a:p>
            <a:pPr algn="ctr">
              <a:lnSpc>
                <a:spcPts val="4319"/>
              </a:lnSpc>
            </a:pPr>
            <a:r>
              <a:rPr lang="en-US" sz="3599" b="1" dirty="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                              1. Prerana Merukar</a:t>
            </a:r>
          </a:p>
          <a:p>
            <a:pPr algn="ctr">
              <a:lnSpc>
                <a:spcPts val="4319"/>
              </a:lnSpc>
            </a:pPr>
            <a:r>
              <a:rPr lang="en-US" sz="3599" b="1" dirty="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                         2. Pranav </a:t>
            </a:r>
            <a:r>
              <a:rPr lang="en-US" sz="3599" b="1" dirty="0" err="1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Sabale</a:t>
            </a:r>
            <a:endParaRPr lang="en-US" sz="3599" b="1" dirty="0">
              <a:solidFill>
                <a:srgbClr val="FFFFFF"/>
              </a:solidFill>
              <a:latin typeface="HK Grotesk Bold"/>
              <a:ea typeface="HK Grotesk Bold"/>
              <a:cs typeface="HK Grotesk Bold"/>
              <a:sym typeface="HK Grotesk Bold"/>
            </a:endParaRPr>
          </a:p>
          <a:p>
            <a:pPr algn="ctr">
              <a:lnSpc>
                <a:spcPts val="4319"/>
              </a:lnSpc>
            </a:pPr>
            <a:r>
              <a:rPr lang="en-US" sz="3599" b="1" dirty="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                        3. Rucha Chobe</a:t>
            </a:r>
          </a:p>
          <a:p>
            <a:pPr algn="ctr">
              <a:lnSpc>
                <a:spcPts val="4319"/>
              </a:lnSpc>
            </a:pPr>
            <a:r>
              <a:rPr lang="en-US" sz="3599" b="1" dirty="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                              4. </a:t>
            </a:r>
            <a:r>
              <a:rPr lang="en-US" sz="3599" b="1" dirty="0" err="1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Dibyasa</a:t>
            </a:r>
            <a:r>
              <a:rPr lang="en-US" sz="3599" b="1" dirty="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 </a:t>
            </a:r>
            <a:r>
              <a:rPr lang="en-US" sz="3599" b="1" dirty="0" err="1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Khandai</a:t>
            </a:r>
            <a:endParaRPr lang="en-US" sz="3599" b="1" dirty="0">
              <a:solidFill>
                <a:srgbClr val="FFFFFF"/>
              </a:solidFill>
              <a:latin typeface="HK Grotesk Bold"/>
              <a:ea typeface="HK Grotesk Bold"/>
              <a:cs typeface="HK Grotesk Bold"/>
              <a:sym typeface="HK Grotesk Bold"/>
            </a:endParaRPr>
          </a:p>
          <a:p>
            <a:pPr algn="ctr">
              <a:lnSpc>
                <a:spcPts val="4319"/>
              </a:lnSpc>
            </a:pPr>
            <a:r>
              <a:rPr lang="en-US" sz="3599" b="1" dirty="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                           5. Mehtab Shaikh</a:t>
            </a:r>
          </a:p>
          <a:p>
            <a:pPr marL="742950" indent="-742950" algn="ctr">
              <a:lnSpc>
                <a:spcPts val="4319"/>
              </a:lnSpc>
              <a:buFont typeface="+mj-lt"/>
              <a:buAutoNum type="arabicPeriod"/>
            </a:pPr>
            <a:endParaRPr lang="en-US" sz="3599" b="1" dirty="0">
              <a:solidFill>
                <a:srgbClr val="FFFFFF"/>
              </a:solidFill>
              <a:latin typeface="HK Grotesk Bold"/>
              <a:ea typeface="HK Grotesk Bold"/>
              <a:cs typeface="HK Grotesk Bold"/>
              <a:sym typeface="HK Grotesk Bold"/>
            </a:endParaRPr>
          </a:p>
          <a:p>
            <a:pPr algn="ctr">
              <a:lnSpc>
                <a:spcPts val="4319"/>
              </a:lnSpc>
              <a:spcBef>
                <a:spcPct val="0"/>
              </a:spcBef>
            </a:pPr>
            <a:endParaRPr lang="en-US" sz="3599" b="1" dirty="0">
              <a:solidFill>
                <a:srgbClr val="FFFFFF"/>
              </a:solidFill>
              <a:latin typeface="HK Grotesk Bold"/>
              <a:ea typeface="HK Grotesk Bold"/>
              <a:cs typeface="HK Grotesk Bold"/>
              <a:sym typeface="HK Grotesk 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713832">
            <a:off x="-4531687" y="6137129"/>
            <a:ext cx="8157874" cy="9711754"/>
          </a:xfrm>
          <a:custGeom>
            <a:avLst/>
            <a:gdLst/>
            <a:ahLst/>
            <a:cxnLst/>
            <a:rect l="l" t="t" r="r" b="b"/>
            <a:pathLst>
              <a:path w="8157874" h="9711754">
                <a:moveTo>
                  <a:pt x="0" y="0"/>
                </a:moveTo>
                <a:lnTo>
                  <a:pt x="8157874" y="0"/>
                </a:lnTo>
                <a:lnTo>
                  <a:pt x="8157874" y="9711754"/>
                </a:lnTo>
                <a:lnTo>
                  <a:pt x="0" y="97117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TextBox 3"/>
          <p:cNvSpPr txBox="1"/>
          <p:nvPr/>
        </p:nvSpPr>
        <p:spPr>
          <a:xfrm>
            <a:off x="666750" y="838200"/>
            <a:ext cx="16954500" cy="1144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799"/>
              </a:lnSpc>
            </a:pPr>
            <a:r>
              <a:rPr lang="en-US" sz="8000" dirty="0">
                <a:solidFill>
                  <a:srgbClr val="0BD3F4"/>
                </a:solidFill>
                <a:latin typeface="Gilda Display"/>
                <a:ea typeface="Gilda Display"/>
                <a:cs typeface="Gilda Display"/>
                <a:sym typeface="Gilda Display"/>
              </a:rPr>
              <a:t>Challenges in  Crypto Management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2514600" y="3634007"/>
            <a:ext cx="14059689" cy="4090472"/>
            <a:chOff x="-1334933" y="0"/>
            <a:chExt cx="18746252" cy="5453962"/>
          </a:xfrm>
        </p:grpSpPr>
        <p:sp>
          <p:nvSpPr>
            <p:cNvPr id="5" name="TextBox 5"/>
            <p:cNvSpPr txBox="1"/>
            <p:nvPr/>
          </p:nvSpPr>
          <p:spPr>
            <a:xfrm>
              <a:off x="0" y="0"/>
              <a:ext cx="17411319" cy="9562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5647"/>
                </a:lnSpc>
                <a:spcBef>
                  <a:spcPct val="0"/>
                </a:spcBef>
              </a:pPr>
              <a:r>
                <a:rPr lang="en-US" sz="4705" b="1" dirty="0">
                  <a:solidFill>
                    <a:srgbClr val="0BD3F4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Key Pain Points Faced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-1334933" y="1301457"/>
              <a:ext cx="18746252" cy="415250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1015992" lvl="1" indent="-507996" algn="l">
                <a:lnSpc>
                  <a:spcPts val="6117"/>
                </a:lnSpc>
                <a:buFont typeface="Arial"/>
                <a:buChar char="•"/>
              </a:pPr>
              <a:r>
                <a:rPr lang="en-US" sz="4705" dirty="0">
                  <a:solidFill>
                    <a:srgbClr val="D0E9FA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Managing assets across multiple exchanges</a:t>
              </a:r>
            </a:p>
            <a:p>
              <a:pPr marL="1015992" lvl="1" indent="-507996" algn="l">
                <a:lnSpc>
                  <a:spcPts val="6117"/>
                </a:lnSpc>
                <a:buFont typeface="Arial"/>
                <a:buChar char="•"/>
              </a:pPr>
              <a:r>
                <a:rPr lang="en-US" sz="4705" dirty="0">
                  <a:solidFill>
                    <a:srgbClr val="D0E9FA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Exposure to scams and rug-pulls</a:t>
              </a:r>
            </a:p>
            <a:p>
              <a:pPr marL="1015992" lvl="1" indent="-507996" algn="l">
                <a:lnSpc>
                  <a:spcPts val="6117"/>
                </a:lnSpc>
                <a:buFont typeface="Arial"/>
                <a:buChar char="•"/>
              </a:pPr>
              <a:r>
                <a:rPr lang="en-US" sz="4705" dirty="0">
                  <a:solidFill>
                    <a:srgbClr val="D0E9FA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Lack of real-time risk alerts</a:t>
              </a:r>
            </a:p>
            <a:p>
              <a:pPr marL="1015992" lvl="1" indent="-507996" algn="l">
                <a:lnSpc>
                  <a:spcPts val="6117"/>
                </a:lnSpc>
                <a:buFont typeface="Arial"/>
                <a:buChar char="•"/>
              </a:pPr>
              <a:r>
                <a:rPr lang="en-US" sz="4705" dirty="0">
                  <a:solidFill>
                    <a:srgbClr val="D0E9FA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Complexity in P&amp;L and tax calculations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713832">
            <a:off x="-4531687" y="6137129"/>
            <a:ext cx="8157874" cy="9711754"/>
          </a:xfrm>
          <a:custGeom>
            <a:avLst/>
            <a:gdLst/>
            <a:ahLst/>
            <a:cxnLst/>
            <a:rect l="l" t="t" r="r" b="b"/>
            <a:pathLst>
              <a:path w="8157874" h="9711754">
                <a:moveTo>
                  <a:pt x="0" y="0"/>
                </a:moveTo>
                <a:lnTo>
                  <a:pt x="8157874" y="0"/>
                </a:lnTo>
                <a:lnTo>
                  <a:pt x="8157874" y="9711754"/>
                </a:lnTo>
                <a:lnTo>
                  <a:pt x="0" y="97117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TextBox 3"/>
          <p:cNvSpPr txBox="1"/>
          <p:nvPr/>
        </p:nvSpPr>
        <p:spPr>
          <a:xfrm>
            <a:off x="666750" y="838200"/>
            <a:ext cx="16954500" cy="11664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799"/>
              </a:lnSpc>
            </a:pPr>
            <a:r>
              <a:rPr lang="en-US" sz="8799">
                <a:solidFill>
                  <a:srgbClr val="0BD3F4"/>
                </a:solidFill>
                <a:latin typeface="Gilda Display"/>
                <a:ea typeface="Gilda Display"/>
                <a:cs typeface="Gilda Display"/>
                <a:sym typeface="Gilda Display"/>
              </a:rPr>
              <a:t>Proposed Solution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3810000" y="3958985"/>
            <a:ext cx="12603938" cy="3993183"/>
            <a:chOff x="-266899" y="0"/>
            <a:chExt cx="16805251" cy="5324243"/>
          </a:xfrm>
        </p:grpSpPr>
        <p:sp>
          <p:nvSpPr>
            <p:cNvPr id="5" name="TextBox 5"/>
            <p:cNvSpPr txBox="1"/>
            <p:nvPr/>
          </p:nvSpPr>
          <p:spPr>
            <a:xfrm>
              <a:off x="0" y="0"/>
              <a:ext cx="16538352" cy="9216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5363"/>
                </a:lnSpc>
                <a:spcBef>
                  <a:spcPct val="0"/>
                </a:spcBef>
              </a:pPr>
              <a:r>
                <a:rPr lang="en-US" sz="4469" b="1" dirty="0">
                  <a:solidFill>
                    <a:srgbClr val="0BD3F4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Key Features 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-266899" y="1376154"/>
              <a:ext cx="16805251" cy="394808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965053" lvl="1" indent="-482526" algn="l">
                <a:lnSpc>
                  <a:spcPts val="5810"/>
                </a:lnSpc>
                <a:buFont typeface="Arial"/>
                <a:buChar char="•"/>
              </a:pPr>
              <a:r>
                <a:rPr lang="en-US" sz="4469" dirty="0">
                  <a:solidFill>
                    <a:srgbClr val="D0E9FA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Unified portfolio dashboard for exchanges</a:t>
              </a:r>
            </a:p>
            <a:p>
              <a:pPr marL="965053" lvl="1" indent="-482526" algn="l">
                <a:lnSpc>
                  <a:spcPts val="5810"/>
                </a:lnSpc>
                <a:buFont typeface="Arial"/>
                <a:buChar char="•"/>
              </a:pPr>
              <a:r>
                <a:rPr lang="en-US" sz="4469" dirty="0">
                  <a:solidFill>
                    <a:srgbClr val="D0E9FA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Automated live price tracking</a:t>
              </a:r>
            </a:p>
            <a:p>
              <a:pPr marL="965053" lvl="1" indent="-482526" algn="l">
                <a:lnSpc>
                  <a:spcPts val="5810"/>
                </a:lnSpc>
                <a:buFont typeface="Arial"/>
                <a:buChar char="•"/>
              </a:pPr>
              <a:r>
                <a:rPr lang="en-US" sz="4469" dirty="0">
                  <a:solidFill>
                    <a:srgbClr val="D0E9FA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Integrated scam and risk detection</a:t>
              </a:r>
            </a:p>
            <a:p>
              <a:pPr marL="965053" lvl="1" indent="-482526" algn="l">
                <a:lnSpc>
                  <a:spcPts val="5810"/>
                </a:lnSpc>
                <a:buFont typeface="Arial"/>
                <a:buChar char="•"/>
              </a:pPr>
              <a:r>
                <a:rPr lang="en-US" sz="4469" dirty="0">
                  <a:solidFill>
                    <a:srgbClr val="D0E9FA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Tax-ready, comprehensive reports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4527442">
            <a:off x="14501108" y="-5422317"/>
            <a:ext cx="10936025" cy="10299747"/>
          </a:xfrm>
          <a:custGeom>
            <a:avLst/>
            <a:gdLst/>
            <a:ahLst/>
            <a:cxnLst/>
            <a:rect l="l" t="t" r="r" b="b"/>
            <a:pathLst>
              <a:path w="10936025" h="10299747">
                <a:moveTo>
                  <a:pt x="0" y="0"/>
                </a:moveTo>
                <a:lnTo>
                  <a:pt x="10936025" y="0"/>
                </a:lnTo>
                <a:lnTo>
                  <a:pt x="10936025" y="10299747"/>
                </a:lnTo>
                <a:lnTo>
                  <a:pt x="0" y="102997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662757" y="3930498"/>
            <a:ext cx="2876550" cy="2686050"/>
            <a:chOff x="0" y="0"/>
            <a:chExt cx="738346" cy="68944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738346" cy="689449"/>
            </a:xfrm>
            <a:custGeom>
              <a:avLst/>
              <a:gdLst/>
              <a:ahLst/>
              <a:cxnLst/>
              <a:rect l="l" t="t" r="r" b="b"/>
              <a:pathLst>
                <a:path w="738346" h="689449">
                  <a:moveTo>
                    <a:pt x="107656" y="0"/>
                  </a:moveTo>
                  <a:lnTo>
                    <a:pt x="630690" y="0"/>
                  </a:lnTo>
                  <a:cubicBezTo>
                    <a:pt x="659242" y="0"/>
                    <a:pt x="686625" y="11342"/>
                    <a:pt x="706814" y="31532"/>
                  </a:cubicBezTo>
                  <a:cubicBezTo>
                    <a:pt x="727004" y="51721"/>
                    <a:pt x="738346" y="79104"/>
                    <a:pt x="738346" y="107656"/>
                  </a:cubicBezTo>
                  <a:lnTo>
                    <a:pt x="738346" y="581793"/>
                  </a:lnTo>
                  <a:cubicBezTo>
                    <a:pt x="738346" y="641250"/>
                    <a:pt x="690147" y="689449"/>
                    <a:pt x="630690" y="689449"/>
                  </a:cubicBezTo>
                  <a:lnTo>
                    <a:pt x="107656" y="689449"/>
                  </a:lnTo>
                  <a:cubicBezTo>
                    <a:pt x="79104" y="689449"/>
                    <a:pt x="51721" y="678107"/>
                    <a:pt x="31532" y="657917"/>
                  </a:cubicBezTo>
                  <a:cubicBezTo>
                    <a:pt x="11342" y="637728"/>
                    <a:pt x="0" y="610345"/>
                    <a:pt x="0" y="581793"/>
                  </a:cubicBezTo>
                  <a:lnTo>
                    <a:pt x="0" y="107656"/>
                  </a:lnTo>
                  <a:cubicBezTo>
                    <a:pt x="0" y="79104"/>
                    <a:pt x="11342" y="51721"/>
                    <a:pt x="31532" y="31532"/>
                  </a:cubicBezTo>
                  <a:cubicBezTo>
                    <a:pt x="51721" y="11342"/>
                    <a:pt x="79104" y="0"/>
                    <a:pt x="107656" y="0"/>
                  </a:cubicBezTo>
                  <a:close/>
                </a:path>
              </a:pathLst>
            </a:custGeom>
            <a:blipFill>
              <a:blip r:embed="rId4"/>
              <a:stretch>
                <a:fillRect l="-135" r="-135"/>
              </a:stretch>
            </a:blipFill>
            <a:ln w="19050" cap="rnd">
              <a:solidFill>
                <a:srgbClr val="FFFFFF"/>
              </a:solidFill>
              <a:prstDash val="solid"/>
              <a:round/>
            </a:ln>
          </p:spPr>
        </p:sp>
      </p:grpSp>
      <p:grpSp>
        <p:nvGrpSpPr>
          <p:cNvPr id="5" name="Group 5"/>
          <p:cNvGrpSpPr/>
          <p:nvPr/>
        </p:nvGrpSpPr>
        <p:grpSpPr>
          <a:xfrm>
            <a:off x="13030200" y="4005288"/>
            <a:ext cx="2876550" cy="2689816"/>
            <a:chOff x="0" y="0"/>
            <a:chExt cx="738346" cy="69041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738346" cy="690415"/>
            </a:xfrm>
            <a:custGeom>
              <a:avLst/>
              <a:gdLst/>
              <a:ahLst/>
              <a:cxnLst/>
              <a:rect l="l" t="t" r="r" b="b"/>
              <a:pathLst>
                <a:path w="738346" h="690415">
                  <a:moveTo>
                    <a:pt x="107656" y="0"/>
                  </a:moveTo>
                  <a:lnTo>
                    <a:pt x="630690" y="0"/>
                  </a:lnTo>
                  <a:cubicBezTo>
                    <a:pt x="659242" y="0"/>
                    <a:pt x="686625" y="11342"/>
                    <a:pt x="706814" y="31532"/>
                  </a:cubicBezTo>
                  <a:cubicBezTo>
                    <a:pt x="727004" y="51721"/>
                    <a:pt x="738346" y="79104"/>
                    <a:pt x="738346" y="107656"/>
                  </a:cubicBezTo>
                  <a:lnTo>
                    <a:pt x="738346" y="582760"/>
                  </a:lnTo>
                  <a:cubicBezTo>
                    <a:pt x="738346" y="642216"/>
                    <a:pt x="690147" y="690415"/>
                    <a:pt x="630690" y="690415"/>
                  </a:cubicBezTo>
                  <a:lnTo>
                    <a:pt x="107656" y="690415"/>
                  </a:lnTo>
                  <a:cubicBezTo>
                    <a:pt x="79104" y="690415"/>
                    <a:pt x="51721" y="679073"/>
                    <a:pt x="31532" y="658884"/>
                  </a:cubicBezTo>
                  <a:cubicBezTo>
                    <a:pt x="11342" y="638694"/>
                    <a:pt x="0" y="611312"/>
                    <a:pt x="0" y="582760"/>
                  </a:cubicBezTo>
                  <a:lnTo>
                    <a:pt x="0" y="107656"/>
                  </a:lnTo>
                  <a:cubicBezTo>
                    <a:pt x="0" y="79104"/>
                    <a:pt x="11342" y="51721"/>
                    <a:pt x="31532" y="31532"/>
                  </a:cubicBezTo>
                  <a:cubicBezTo>
                    <a:pt x="51721" y="11342"/>
                    <a:pt x="79104" y="0"/>
                    <a:pt x="107656" y="0"/>
                  </a:cubicBezTo>
                  <a:close/>
                </a:path>
              </a:pathLst>
            </a:custGeom>
            <a:blipFill>
              <a:blip r:embed="rId5"/>
              <a:stretch>
                <a:fillRect l="-205" r="-205"/>
              </a:stretch>
            </a:blipFill>
            <a:ln w="19050" cap="rnd">
              <a:solidFill>
                <a:srgbClr val="FFFFFF"/>
              </a:solidFill>
              <a:prstDash val="solid"/>
              <a:round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8604692" y="4005288"/>
            <a:ext cx="2876550" cy="2686050"/>
            <a:chOff x="0" y="0"/>
            <a:chExt cx="738346" cy="68944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738346" cy="689449"/>
            </a:xfrm>
            <a:custGeom>
              <a:avLst/>
              <a:gdLst/>
              <a:ahLst/>
              <a:cxnLst/>
              <a:rect l="l" t="t" r="r" b="b"/>
              <a:pathLst>
                <a:path w="738346" h="689449">
                  <a:moveTo>
                    <a:pt x="107656" y="0"/>
                  </a:moveTo>
                  <a:lnTo>
                    <a:pt x="630690" y="0"/>
                  </a:lnTo>
                  <a:cubicBezTo>
                    <a:pt x="659242" y="0"/>
                    <a:pt x="686625" y="11342"/>
                    <a:pt x="706814" y="31532"/>
                  </a:cubicBezTo>
                  <a:cubicBezTo>
                    <a:pt x="727004" y="51721"/>
                    <a:pt x="738346" y="79104"/>
                    <a:pt x="738346" y="107656"/>
                  </a:cubicBezTo>
                  <a:lnTo>
                    <a:pt x="738346" y="581793"/>
                  </a:lnTo>
                  <a:cubicBezTo>
                    <a:pt x="738346" y="641250"/>
                    <a:pt x="690147" y="689449"/>
                    <a:pt x="630690" y="689449"/>
                  </a:cubicBezTo>
                  <a:lnTo>
                    <a:pt x="107656" y="689449"/>
                  </a:lnTo>
                  <a:cubicBezTo>
                    <a:pt x="79104" y="689449"/>
                    <a:pt x="51721" y="678107"/>
                    <a:pt x="31532" y="657917"/>
                  </a:cubicBezTo>
                  <a:cubicBezTo>
                    <a:pt x="11342" y="637728"/>
                    <a:pt x="0" y="610345"/>
                    <a:pt x="0" y="581793"/>
                  </a:cubicBezTo>
                  <a:lnTo>
                    <a:pt x="0" y="107656"/>
                  </a:lnTo>
                  <a:cubicBezTo>
                    <a:pt x="0" y="79104"/>
                    <a:pt x="11342" y="51721"/>
                    <a:pt x="31532" y="31532"/>
                  </a:cubicBezTo>
                  <a:cubicBezTo>
                    <a:pt x="51721" y="11342"/>
                    <a:pt x="79104" y="0"/>
                    <a:pt x="107656" y="0"/>
                  </a:cubicBezTo>
                  <a:close/>
                </a:path>
              </a:pathLst>
            </a:custGeom>
            <a:blipFill>
              <a:blip r:embed="rId6"/>
              <a:stretch>
                <a:fillRect l="-135" r="-135"/>
              </a:stretch>
            </a:blipFill>
            <a:ln w="19050" cap="rnd">
              <a:solidFill>
                <a:srgbClr val="FFFFFF"/>
              </a:solidFill>
              <a:prstDash val="solid"/>
              <a:round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4674280" y="3981048"/>
            <a:ext cx="2876550" cy="2722157"/>
            <a:chOff x="0" y="0"/>
            <a:chExt cx="738346" cy="69871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738346" cy="698717"/>
            </a:xfrm>
            <a:custGeom>
              <a:avLst/>
              <a:gdLst/>
              <a:ahLst/>
              <a:cxnLst/>
              <a:rect l="l" t="t" r="r" b="b"/>
              <a:pathLst>
                <a:path w="738346" h="698717">
                  <a:moveTo>
                    <a:pt x="107656" y="0"/>
                  </a:moveTo>
                  <a:lnTo>
                    <a:pt x="630690" y="0"/>
                  </a:lnTo>
                  <a:cubicBezTo>
                    <a:pt x="659242" y="0"/>
                    <a:pt x="686625" y="11342"/>
                    <a:pt x="706814" y="31532"/>
                  </a:cubicBezTo>
                  <a:cubicBezTo>
                    <a:pt x="727004" y="51721"/>
                    <a:pt x="738346" y="79104"/>
                    <a:pt x="738346" y="107656"/>
                  </a:cubicBezTo>
                  <a:lnTo>
                    <a:pt x="738346" y="591061"/>
                  </a:lnTo>
                  <a:cubicBezTo>
                    <a:pt x="738346" y="619613"/>
                    <a:pt x="727004" y="646996"/>
                    <a:pt x="706814" y="667185"/>
                  </a:cubicBezTo>
                  <a:cubicBezTo>
                    <a:pt x="686625" y="687374"/>
                    <a:pt x="659242" y="698717"/>
                    <a:pt x="630690" y="698717"/>
                  </a:cubicBezTo>
                  <a:lnTo>
                    <a:pt x="107656" y="698717"/>
                  </a:lnTo>
                  <a:cubicBezTo>
                    <a:pt x="79104" y="698717"/>
                    <a:pt x="51721" y="687374"/>
                    <a:pt x="31532" y="667185"/>
                  </a:cubicBezTo>
                  <a:cubicBezTo>
                    <a:pt x="11342" y="646996"/>
                    <a:pt x="0" y="619613"/>
                    <a:pt x="0" y="591061"/>
                  </a:cubicBezTo>
                  <a:lnTo>
                    <a:pt x="0" y="107656"/>
                  </a:lnTo>
                  <a:cubicBezTo>
                    <a:pt x="0" y="79104"/>
                    <a:pt x="11342" y="51721"/>
                    <a:pt x="31532" y="31532"/>
                  </a:cubicBezTo>
                  <a:cubicBezTo>
                    <a:pt x="51721" y="11342"/>
                    <a:pt x="79104" y="0"/>
                    <a:pt x="107656" y="0"/>
                  </a:cubicBezTo>
                  <a:close/>
                </a:path>
              </a:pathLst>
            </a:custGeom>
            <a:blipFill>
              <a:blip r:embed="rId7"/>
              <a:stretch>
                <a:fillRect l="-203" r="-203"/>
              </a:stretch>
            </a:blipFill>
            <a:ln w="19050" cap="rnd">
              <a:solidFill>
                <a:srgbClr val="FFFFFF"/>
              </a:solidFill>
              <a:prstDash val="solid"/>
              <a:round/>
            </a:ln>
          </p:spPr>
        </p:sp>
      </p:grpSp>
      <p:sp>
        <p:nvSpPr>
          <p:cNvPr id="11" name="TextBox 11"/>
          <p:cNvSpPr txBox="1"/>
          <p:nvPr/>
        </p:nvSpPr>
        <p:spPr>
          <a:xfrm>
            <a:off x="666750" y="838200"/>
            <a:ext cx="16402050" cy="11742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799"/>
              </a:lnSpc>
            </a:pPr>
            <a:r>
              <a:rPr lang="en-US" sz="8799">
                <a:solidFill>
                  <a:srgbClr val="0BD3F4"/>
                </a:solidFill>
                <a:latin typeface="Gilda Display"/>
                <a:ea typeface="Gilda Display"/>
                <a:cs typeface="Gilda Display"/>
                <a:sym typeface="Gilda Display"/>
              </a:rPr>
              <a:t>Key Features of CryptoTrack Pro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664493" y="6872752"/>
            <a:ext cx="3212016" cy="1081101"/>
            <a:chOff x="-11509209" y="4319951"/>
            <a:chExt cx="4282688" cy="1441469"/>
          </a:xfrm>
        </p:grpSpPr>
        <p:sp>
          <p:nvSpPr>
            <p:cNvPr id="13" name="TextBox 13"/>
            <p:cNvSpPr txBox="1"/>
            <p:nvPr/>
          </p:nvSpPr>
          <p:spPr>
            <a:xfrm>
              <a:off x="-11509209" y="4319951"/>
              <a:ext cx="3834751" cy="61912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r>
                <a:rPr lang="en-US" sz="3000" b="1" dirty="0">
                  <a:solidFill>
                    <a:srgbClr val="0BD3F4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  Multi-exchange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-11061921" y="5043642"/>
              <a:ext cx="3835400" cy="71777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176"/>
                </a:lnSpc>
              </a:pPr>
              <a:r>
                <a:rPr lang="en-US" sz="1674" dirty="0">
                  <a:solidFill>
                    <a:srgbClr val="D0E9FA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Seamlessly manage assets across various platforms.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8770781" y="6805999"/>
            <a:ext cx="3096882" cy="1191297"/>
            <a:chOff x="-6047525" y="4230941"/>
            <a:chExt cx="4129176" cy="1588395"/>
          </a:xfrm>
        </p:grpSpPr>
        <p:sp>
          <p:nvSpPr>
            <p:cNvPr id="16" name="TextBox 16"/>
            <p:cNvSpPr txBox="1"/>
            <p:nvPr/>
          </p:nvSpPr>
          <p:spPr>
            <a:xfrm>
              <a:off x="-5753100" y="4230941"/>
              <a:ext cx="3834751" cy="619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r>
                <a:rPr lang="en-US" sz="3000" b="1" dirty="0">
                  <a:solidFill>
                    <a:srgbClr val="0BD3F4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Live Pricing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-6047525" y="5101559"/>
              <a:ext cx="3835400" cy="7177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176"/>
                </a:lnSpc>
              </a:pPr>
              <a:r>
                <a:rPr lang="en-US" sz="1674" dirty="0">
                  <a:solidFill>
                    <a:srgbClr val="D0E9FA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Track real-time market prices effortlessly and accurately.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4713403" y="6880008"/>
            <a:ext cx="3230991" cy="1117286"/>
            <a:chOff x="-6110661" y="-1639377"/>
            <a:chExt cx="4307987" cy="1489714"/>
          </a:xfrm>
        </p:grpSpPr>
        <p:sp>
          <p:nvSpPr>
            <p:cNvPr id="19" name="TextBox 19"/>
            <p:cNvSpPr txBox="1"/>
            <p:nvPr/>
          </p:nvSpPr>
          <p:spPr>
            <a:xfrm>
              <a:off x="-5637425" y="-1639377"/>
              <a:ext cx="3834751" cy="619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r>
                <a:rPr lang="en-US" sz="3000" b="1" dirty="0">
                  <a:solidFill>
                    <a:srgbClr val="0BD3F4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Risk Alerts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-6110661" y="-867440"/>
              <a:ext cx="3835401" cy="7177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176"/>
                </a:lnSpc>
              </a:pPr>
              <a:r>
                <a:rPr lang="en-US" sz="1674" dirty="0">
                  <a:solidFill>
                    <a:srgbClr val="D0E9FA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Receive immediate notifications about potential threats.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3145887" y="7038169"/>
            <a:ext cx="2912777" cy="1076575"/>
            <a:chOff x="-214051" y="-1428496"/>
            <a:chExt cx="3883702" cy="1435433"/>
          </a:xfrm>
        </p:grpSpPr>
        <p:sp>
          <p:nvSpPr>
            <p:cNvPr id="22" name="TextBox 22"/>
            <p:cNvSpPr txBox="1"/>
            <p:nvPr/>
          </p:nvSpPr>
          <p:spPr>
            <a:xfrm>
              <a:off x="-165100" y="-1428496"/>
              <a:ext cx="3834751" cy="619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r>
                <a:rPr lang="en-US" sz="3000" b="1" dirty="0">
                  <a:solidFill>
                    <a:srgbClr val="0BD3F4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P&amp;L Summaries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-214051" y="-710840"/>
              <a:ext cx="3835400" cy="7177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176"/>
                </a:lnSpc>
              </a:pPr>
              <a:r>
                <a:rPr lang="en-US" sz="1674" dirty="0">
                  <a:solidFill>
                    <a:srgbClr val="D0E9FA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Generate detailed reports for accurate financial insights.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915400" y="574834"/>
            <a:ext cx="8294683" cy="7239000"/>
            <a:chOff x="0" y="0"/>
            <a:chExt cx="1366548" cy="117683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66548" cy="1176834"/>
            </a:xfrm>
            <a:custGeom>
              <a:avLst/>
              <a:gdLst/>
              <a:ahLst/>
              <a:cxnLst/>
              <a:rect l="l" t="t" r="r" b="b"/>
              <a:pathLst>
                <a:path w="1366548" h="1176834">
                  <a:moveTo>
                    <a:pt x="34349" y="0"/>
                  </a:moveTo>
                  <a:lnTo>
                    <a:pt x="1332199" y="0"/>
                  </a:lnTo>
                  <a:cubicBezTo>
                    <a:pt x="1351169" y="0"/>
                    <a:pt x="1366548" y="15379"/>
                    <a:pt x="1366548" y="34349"/>
                  </a:cubicBezTo>
                  <a:lnTo>
                    <a:pt x="1366548" y="1142485"/>
                  </a:lnTo>
                  <a:cubicBezTo>
                    <a:pt x="1366548" y="1161455"/>
                    <a:pt x="1351169" y="1176834"/>
                    <a:pt x="1332199" y="1176834"/>
                  </a:cubicBezTo>
                  <a:lnTo>
                    <a:pt x="34349" y="1176834"/>
                  </a:lnTo>
                  <a:cubicBezTo>
                    <a:pt x="15379" y="1176834"/>
                    <a:pt x="0" y="1161455"/>
                    <a:pt x="0" y="1142485"/>
                  </a:cubicBezTo>
                  <a:lnTo>
                    <a:pt x="0" y="34349"/>
                  </a:lnTo>
                  <a:cubicBezTo>
                    <a:pt x="0" y="15379"/>
                    <a:pt x="15379" y="0"/>
                    <a:pt x="34349" y="0"/>
                  </a:cubicBezTo>
                  <a:close/>
                </a:path>
              </a:pathLst>
            </a:custGeom>
            <a:blipFill>
              <a:blip r:embed="rId2"/>
              <a:stretch>
                <a:fillRect l="-5742" r="-5197"/>
              </a:stretch>
            </a:blipFill>
            <a:ln w="19050" cap="rnd">
              <a:solidFill>
                <a:srgbClr val="FFFFFF"/>
              </a:solidFill>
              <a:prstDash val="solid"/>
              <a:round/>
            </a:ln>
          </p:spPr>
        </p:sp>
      </p:grpSp>
      <p:sp>
        <p:nvSpPr>
          <p:cNvPr id="4" name="TextBox 4"/>
          <p:cNvSpPr txBox="1"/>
          <p:nvPr/>
        </p:nvSpPr>
        <p:spPr>
          <a:xfrm>
            <a:off x="666750" y="838200"/>
            <a:ext cx="6886575" cy="33953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799"/>
              </a:lnSpc>
            </a:pPr>
            <a:r>
              <a:rPr lang="en-US" sz="8799">
                <a:solidFill>
                  <a:srgbClr val="0BD3F4"/>
                </a:solidFill>
                <a:latin typeface="Gilda Display"/>
                <a:ea typeface="Gilda Display"/>
                <a:cs typeface="Gilda Display"/>
                <a:sym typeface="Gilda Display"/>
              </a:rPr>
              <a:t>Technology Stack Overview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9538763" y="8496300"/>
            <a:ext cx="7569019" cy="1514065"/>
            <a:chOff x="-1665" y="-720253"/>
            <a:chExt cx="10092025" cy="2018753"/>
          </a:xfrm>
        </p:grpSpPr>
        <p:sp>
          <p:nvSpPr>
            <p:cNvPr id="6" name="TextBox 6"/>
            <p:cNvSpPr txBox="1"/>
            <p:nvPr/>
          </p:nvSpPr>
          <p:spPr>
            <a:xfrm>
              <a:off x="-1665" y="-720253"/>
              <a:ext cx="10090360" cy="6654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06"/>
                </a:lnSpc>
                <a:spcBef>
                  <a:spcPct val="0"/>
                </a:spcBef>
              </a:pPr>
              <a:r>
                <a:rPr lang="en-US" sz="3255" b="1" dirty="0">
                  <a:solidFill>
                    <a:srgbClr val="0BD3F4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Innovative Tools for Crypto Development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855169"/>
              <a:ext cx="10090360" cy="44333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784"/>
                </a:lnSpc>
              </a:pPr>
              <a:r>
                <a:rPr lang="en-US" sz="2142" dirty="0">
                  <a:solidFill>
                    <a:srgbClr val="D0E9FA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This stack ensures efficient and secure application performance.</a:t>
              </a:r>
            </a:p>
          </p:txBody>
        </p:sp>
      </p:grpSp>
      <p:sp>
        <p:nvSpPr>
          <p:cNvPr id="8" name="Freeform 8"/>
          <p:cNvSpPr/>
          <p:nvPr/>
        </p:nvSpPr>
        <p:spPr>
          <a:xfrm rot="-1268288">
            <a:off x="14275228" y="-6577016"/>
            <a:ext cx="10936025" cy="10299747"/>
          </a:xfrm>
          <a:custGeom>
            <a:avLst/>
            <a:gdLst/>
            <a:ahLst/>
            <a:cxnLst/>
            <a:rect l="l" t="t" r="r" b="b"/>
            <a:pathLst>
              <a:path w="10936025" h="10299747">
                <a:moveTo>
                  <a:pt x="0" y="0"/>
                </a:moveTo>
                <a:lnTo>
                  <a:pt x="10936025" y="0"/>
                </a:lnTo>
                <a:lnTo>
                  <a:pt x="10936025" y="10299747"/>
                </a:lnTo>
                <a:lnTo>
                  <a:pt x="0" y="1029974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734675" y="666750"/>
            <a:ext cx="6886575" cy="8953500"/>
            <a:chOff x="0" y="0"/>
            <a:chExt cx="1200275" cy="156052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00275" cy="1560523"/>
            </a:xfrm>
            <a:custGeom>
              <a:avLst/>
              <a:gdLst/>
              <a:ahLst/>
              <a:cxnLst/>
              <a:rect l="l" t="t" r="r" b="b"/>
              <a:pathLst>
                <a:path w="1200275" h="1560523">
                  <a:moveTo>
                    <a:pt x="44968" y="0"/>
                  </a:moveTo>
                  <a:lnTo>
                    <a:pt x="1155306" y="0"/>
                  </a:lnTo>
                  <a:cubicBezTo>
                    <a:pt x="1167233" y="0"/>
                    <a:pt x="1178670" y="4738"/>
                    <a:pt x="1187104" y="13171"/>
                  </a:cubicBezTo>
                  <a:cubicBezTo>
                    <a:pt x="1195537" y="21604"/>
                    <a:pt x="1200275" y="33042"/>
                    <a:pt x="1200275" y="44968"/>
                  </a:cubicBezTo>
                  <a:lnTo>
                    <a:pt x="1200275" y="1515555"/>
                  </a:lnTo>
                  <a:cubicBezTo>
                    <a:pt x="1200275" y="1527481"/>
                    <a:pt x="1195537" y="1538919"/>
                    <a:pt x="1187104" y="1547352"/>
                  </a:cubicBezTo>
                  <a:cubicBezTo>
                    <a:pt x="1178670" y="1555785"/>
                    <a:pt x="1167233" y="1560523"/>
                    <a:pt x="1155306" y="1560523"/>
                  </a:cubicBezTo>
                  <a:lnTo>
                    <a:pt x="44968" y="1560523"/>
                  </a:lnTo>
                  <a:cubicBezTo>
                    <a:pt x="33042" y="1560523"/>
                    <a:pt x="21604" y="1555785"/>
                    <a:pt x="13171" y="1547352"/>
                  </a:cubicBezTo>
                  <a:cubicBezTo>
                    <a:pt x="4738" y="1538919"/>
                    <a:pt x="0" y="1527481"/>
                    <a:pt x="0" y="1515555"/>
                  </a:cubicBezTo>
                  <a:lnTo>
                    <a:pt x="0" y="44968"/>
                  </a:lnTo>
                  <a:cubicBezTo>
                    <a:pt x="0" y="33042"/>
                    <a:pt x="4738" y="21604"/>
                    <a:pt x="13171" y="13171"/>
                  </a:cubicBezTo>
                  <a:cubicBezTo>
                    <a:pt x="21604" y="4738"/>
                    <a:pt x="33042" y="0"/>
                    <a:pt x="44968" y="0"/>
                  </a:cubicBezTo>
                  <a:close/>
                </a:path>
              </a:pathLst>
            </a:custGeom>
            <a:blipFill>
              <a:blip r:embed="rId2"/>
              <a:stretch>
                <a:fillRect t="-271" b="-271"/>
              </a:stretch>
            </a:blipFill>
            <a:ln w="19050" cap="rnd">
              <a:solidFill>
                <a:srgbClr val="432766"/>
              </a:solidFill>
              <a:prstDash val="solid"/>
              <a:round/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203585" y="301094"/>
            <a:ext cx="8672267" cy="4306365"/>
            <a:chOff x="0" y="0"/>
            <a:chExt cx="11563022" cy="5741820"/>
          </a:xfrm>
        </p:grpSpPr>
        <p:sp>
          <p:nvSpPr>
            <p:cNvPr id="5" name="TextBox 5"/>
            <p:cNvSpPr txBox="1"/>
            <p:nvPr/>
          </p:nvSpPr>
          <p:spPr>
            <a:xfrm>
              <a:off x="0" y="3702285"/>
              <a:ext cx="11563022" cy="20395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062"/>
                </a:lnSpc>
              </a:pPr>
              <a:r>
                <a:rPr lang="en-US" sz="3125">
                  <a:solidFill>
                    <a:srgbClr val="C2D9E8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The workflow ensures seamless integration from user inputs through APIs to risk analysis and data visualization.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171450"/>
              <a:ext cx="11563022" cy="32348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9167"/>
                </a:lnSpc>
              </a:pPr>
              <a:r>
                <a:rPr lang="en-US" sz="9167">
                  <a:solidFill>
                    <a:srgbClr val="00B8D9"/>
                  </a:solidFill>
                  <a:latin typeface="Gilda Display"/>
                  <a:ea typeface="Gilda Display"/>
                  <a:cs typeface="Gilda Display"/>
                  <a:sym typeface="Gilda Display"/>
                </a:rPr>
                <a:t>System Workflow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231660">
            <a:off x="14626252" y="5564869"/>
            <a:ext cx="10936025" cy="10299747"/>
          </a:xfrm>
          <a:custGeom>
            <a:avLst/>
            <a:gdLst/>
            <a:ahLst/>
            <a:cxnLst/>
            <a:rect l="l" t="t" r="r" b="b"/>
            <a:pathLst>
              <a:path w="10936025" h="10299747">
                <a:moveTo>
                  <a:pt x="0" y="0"/>
                </a:moveTo>
                <a:lnTo>
                  <a:pt x="10936025" y="0"/>
                </a:lnTo>
                <a:lnTo>
                  <a:pt x="10936025" y="10299747"/>
                </a:lnTo>
                <a:lnTo>
                  <a:pt x="0" y="102997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3429000" y="2974998"/>
            <a:ext cx="13624714" cy="4163276"/>
            <a:chOff x="-632040" y="0"/>
            <a:chExt cx="18166285" cy="5551035"/>
          </a:xfrm>
        </p:grpSpPr>
        <p:sp>
          <p:nvSpPr>
            <p:cNvPr id="4" name="TextBox 4"/>
            <p:cNvSpPr txBox="1"/>
            <p:nvPr/>
          </p:nvSpPr>
          <p:spPr>
            <a:xfrm>
              <a:off x="0" y="0"/>
              <a:ext cx="17534245" cy="96297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5686"/>
                </a:lnSpc>
                <a:spcBef>
                  <a:spcPct val="0"/>
                </a:spcBef>
              </a:pPr>
              <a:r>
                <a:rPr lang="en-US" sz="4739" b="1">
                  <a:solidFill>
                    <a:srgbClr val="00B8D9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Key Benefits of CryptoTrack Pro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-632040" y="1332615"/>
              <a:ext cx="18166285" cy="421842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1023165" lvl="1" indent="-511583" algn="l">
                <a:lnSpc>
                  <a:spcPts val="6160"/>
                </a:lnSpc>
                <a:buFont typeface="Arial"/>
                <a:buChar char="•"/>
              </a:pPr>
              <a:r>
                <a:rPr lang="en-US" sz="4739" dirty="0">
                  <a:solidFill>
                    <a:srgbClr val="C2D9E8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Improved portfolio visibility</a:t>
              </a:r>
            </a:p>
            <a:p>
              <a:pPr marL="1023165" lvl="1" indent="-511583" algn="l">
                <a:lnSpc>
                  <a:spcPts val="6160"/>
                </a:lnSpc>
                <a:buFont typeface="Arial"/>
                <a:buChar char="•"/>
              </a:pPr>
              <a:r>
                <a:rPr lang="en-US" sz="4739" dirty="0">
                  <a:solidFill>
                    <a:srgbClr val="C2D9E8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Reduced exposure to scams</a:t>
              </a:r>
            </a:p>
            <a:p>
              <a:pPr marL="1023165" lvl="1" indent="-511583" algn="l">
                <a:lnSpc>
                  <a:spcPts val="6160"/>
                </a:lnSpc>
                <a:buFont typeface="Arial"/>
                <a:buChar char="•"/>
              </a:pPr>
              <a:r>
                <a:rPr lang="en-US" sz="4739" dirty="0">
                  <a:solidFill>
                    <a:srgbClr val="C2D9E8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Time-saving automation features</a:t>
              </a:r>
            </a:p>
            <a:p>
              <a:pPr marL="1023165" lvl="1" indent="-511583" algn="l">
                <a:lnSpc>
                  <a:spcPts val="6160"/>
                </a:lnSpc>
                <a:buFont typeface="Arial"/>
                <a:buChar char="•"/>
              </a:pPr>
              <a:r>
                <a:rPr lang="en-US" sz="4739" dirty="0">
                  <a:solidFill>
                    <a:srgbClr val="C2D9E8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Accurate financial insights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666750" y="838200"/>
            <a:ext cx="16954500" cy="11664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799"/>
              </a:lnSpc>
            </a:pPr>
            <a:r>
              <a:rPr lang="en-US" sz="8799">
                <a:solidFill>
                  <a:srgbClr val="00B8D9"/>
                </a:solidFill>
                <a:latin typeface="Gilda Display"/>
                <a:ea typeface="Gilda Display"/>
                <a:cs typeface="Gilda Display"/>
                <a:sym typeface="Gilda Display"/>
              </a:rPr>
              <a:t>Measurable Outcomes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713832">
            <a:off x="-4531687" y="6137129"/>
            <a:ext cx="8157874" cy="9711754"/>
          </a:xfrm>
          <a:custGeom>
            <a:avLst/>
            <a:gdLst/>
            <a:ahLst/>
            <a:cxnLst/>
            <a:rect l="l" t="t" r="r" b="b"/>
            <a:pathLst>
              <a:path w="8157874" h="9711754">
                <a:moveTo>
                  <a:pt x="0" y="0"/>
                </a:moveTo>
                <a:lnTo>
                  <a:pt x="8157874" y="0"/>
                </a:lnTo>
                <a:lnTo>
                  <a:pt x="8157874" y="9711754"/>
                </a:lnTo>
                <a:lnTo>
                  <a:pt x="0" y="97117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TextBox 3"/>
          <p:cNvSpPr txBox="1"/>
          <p:nvPr/>
        </p:nvSpPr>
        <p:spPr>
          <a:xfrm>
            <a:off x="666750" y="838200"/>
            <a:ext cx="16954500" cy="11664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799"/>
              </a:lnSpc>
            </a:pPr>
            <a:r>
              <a:rPr lang="en-US" sz="8799" dirty="0">
                <a:solidFill>
                  <a:srgbClr val="0BD3F4"/>
                </a:solidFill>
                <a:latin typeface="Gilda Display"/>
                <a:ea typeface="Gilda Display"/>
                <a:cs typeface="Gilda Display"/>
                <a:sym typeface="Gilda Display"/>
              </a:rPr>
              <a:t>Future Enhancements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5264144" y="4089762"/>
            <a:ext cx="11598774" cy="3761078"/>
            <a:chOff x="-21652" y="-9525"/>
            <a:chExt cx="15465032" cy="5014771"/>
          </a:xfrm>
        </p:grpSpPr>
        <p:sp>
          <p:nvSpPr>
            <p:cNvPr id="5" name="TextBox 5"/>
            <p:cNvSpPr txBox="1"/>
            <p:nvPr/>
          </p:nvSpPr>
          <p:spPr>
            <a:xfrm>
              <a:off x="0" y="-9525"/>
              <a:ext cx="15443380" cy="85767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5008"/>
                </a:lnSpc>
                <a:spcBef>
                  <a:spcPct val="0"/>
                </a:spcBef>
              </a:pPr>
              <a:r>
                <a:rPr lang="en-US" sz="4173" b="1">
                  <a:solidFill>
                    <a:srgbClr val="0BD3F4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Upcoming Features and Innovations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-21652" y="1352987"/>
              <a:ext cx="15443380" cy="36522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901158" lvl="1" indent="-450579" algn="l">
                <a:lnSpc>
                  <a:spcPts val="5426"/>
                </a:lnSpc>
                <a:buFont typeface="Arial"/>
                <a:buChar char="•"/>
              </a:pPr>
              <a:r>
                <a:rPr lang="en-US" sz="4173" dirty="0">
                  <a:solidFill>
                    <a:srgbClr val="D0E9FA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AI-driven risk scoring models</a:t>
              </a:r>
            </a:p>
            <a:p>
              <a:pPr marL="901158" lvl="1" indent="-450579" algn="l">
                <a:lnSpc>
                  <a:spcPts val="5426"/>
                </a:lnSpc>
                <a:buFont typeface="Arial"/>
                <a:buChar char="•"/>
              </a:pPr>
              <a:r>
                <a:rPr lang="en-US" sz="4173" dirty="0">
                  <a:solidFill>
                    <a:srgbClr val="D0E9FA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Dedicated mobile application</a:t>
              </a:r>
            </a:p>
            <a:p>
              <a:pPr marL="901158" lvl="1" indent="-450579" algn="l">
                <a:lnSpc>
                  <a:spcPts val="5426"/>
                </a:lnSpc>
                <a:buFont typeface="Arial"/>
                <a:buChar char="•"/>
              </a:pPr>
              <a:r>
                <a:rPr lang="en-US" sz="4173" dirty="0">
                  <a:solidFill>
                    <a:srgbClr val="D0E9FA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Tracking for DeFi &amp; NFT assets</a:t>
              </a:r>
            </a:p>
            <a:p>
              <a:pPr marL="901158" lvl="1" indent="-450579" algn="l">
                <a:lnSpc>
                  <a:spcPts val="5426"/>
                </a:lnSpc>
                <a:buFont typeface="Arial"/>
                <a:buChar char="•"/>
              </a:pPr>
              <a:r>
                <a:rPr lang="en-US" sz="4173" dirty="0">
                  <a:solidFill>
                    <a:srgbClr val="D0E9FA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Advanced tax compliance features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2156052">
            <a:off x="16339169" y="8003391"/>
            <a:ext cx="5798378" cy="6902831"/>
          </a:xfrm>
          <a:custGeom>
            <a:avLst/>
            <a:gdLst/>
            <a:ahLst/>
            <a:cxnLst/>
            <a:rect l="l" t="t" r="r" b="b"/>
            <a:pathLst>
              <a:path w="5798378" h="6902831">
                <a:moveTo>
                  <a:pt x="0" y="0"/>
                </a:moveTo>
                <a:lnTo>
                  <a:pt x="5798378" y="0"/>
                </a:lnTo>
                <a:lnTo>
                  <a:pt x="5798378" y="6902831"/>
                </a:lnTo>
                <a:lnTo>
                  <a:pt x="0" y="69028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4C41982-1A6D-8380-1B5C-ABDC5C78680D}"/>
              </a:ext>
            </a:extLst>
          </p:cNvPr>
          <p:cNvSpPr txBox="1"/>
          <p:nvPr/>
        </p:nvSpPr>
        <p:spPr>
          <a:xfrm>
            <a:off x="533400" y="2781300"/>
            <a:ext cx="16383000" cy="55552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4000" b="1" dirty="0">
                <a:solidFill>
                  <a:schemeClr val="bg1"/>
                </a:solidFill>
                <a:latin typeface="HK Grotesk Light" panose="020B0604020202020204" charset="0"/>
              </a:rPr>
              <a:t>To conclude, </a:t>
            </a:r>
            <a:r>
              <a:rPr lang="en-US" sz="4000" b="1" dirty="0" err="1">
                <a:solidFill>
                  <a:schemeClr val="bg1"/>
                </a:solidFill>
                <a:latin typeface="HK Grotesk Light" panose="020B0604020202020204" charset="0"/>
              </a:rPr>
              <a:t>CryptoTrack</a:t>
            </a:r>
            <a:r>
              <a:rPr lang="en-US" sz="4000" b="1" dirty="0">
                <a:solidFill>
                  <a:schemeClr val="bg1"/>
                </a:solidFill>
                <a:latin typeface="HK Grotesk Light" panose="020B0604020202020204" charset="0"/>
              </a:rPr>
              <a:t> pro serves as a comprehensive and intelligent solution for modern crypto investors. It effectively simplifies crypto portfolio management by consolidating assets from multiple exchanges into a single, user-friendly dashboard. By integrating real-time price tracking, profit and loss analysis, and tax-ready reports, the platform enables users to gain clear and accurate financial insights.</a:t>
            </a:r>
            <a:endParaRPr lang="en-IN" sz="4000" b="1" dirty="0">
              <a:solidFill>
                <a:schemeClr val="bg1"/>
              </a:solidFill>
              <a:latin typeface="HK Grotesk Light" panose="020B060402020202020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D317ADD-D42A-58FF-2929-0F994B8F3D65}"/>
              </a:ext>
            </a:extLst>
          </p:cNvPr>
          <p:cNvSpPr txBox="1"/>
          <p:nvPr/>
        </p:nvSpPr>
        <p:spPr>
          <a:xfrm>
            <a:off x="533400" y="1333500"/>
            <a:ext cx="7696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b="1" dirty="0">
                <a:solidFill>
                  <a:srgbClr val="00B0F0"/>
                </a:solidFill>
                <a:latin typeface="Gilda Display" panose="020B0604020202020204" charset="0"/>
              </a:rPr>
              <a:t>Conclusion</a:t>
            </a:r>
            <a:endParaRPr lang="en-IN" sz="7200" b="1" dirty="0">
              <a:solidFill>
                <a:srgbClr val="00B0F0"/>
              </a:solidFill>
              <a:latin typeface="Gilda Display" panose="020B060402020202020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9300848">
            <a:off x="12064338" y="5278644"/>
            <a:ext cx="13730046" cy="12931207"/>
          </a:xfrm>
          <a:custGeom>
            <a:avLst/>
            <a:gdLst/>
            <a:ahLst/>
            <a:cxnLst/>
            <a:rect l="l" t="t" r="r" b="b"/>
            <a:pathLst>
              <a:path w="13730046" h="12931207">
                <a:moveTo>
                  <a:pt x="0" y="0"/>
                </a:moveTo>
                <a:lnTo>
                  <a:pt x="13730046" y="0"/>
                </a:lnTo>
                <a:lnTo>
                  <a:pt x="13730046" y="12931207"/>
                </a:lnTo>
                <a:lnTo>
                  <a:pt x="0" y="129312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TextBox 3"/>
          <p:cNvSpPr txBox="1"/>
          <p:nvPr/>
        </p:nvSpPr>
        <p:spPr>
          <a:xfrm>
            <a:off x="4682767" y="4645978"/>
            <a:ext cx="12944475" cy="11664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799"/>
              </a:lnSpc>
            </a:pPr>
            <a:r>
              <a:rPr lang="en-US" sz="8799">
                <a:solidFill>
                  <a:srgbClr val="0BD3F4"/>
                </a:solidFill>
                <a:latin typeface="Gilda Display"/>
                <a:ea typeface="Gilda Display"/>
                <a:cs typeface="Gilda Display"/>
                <a:sym typeface="Gilda Display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272</Words>
  <Application>Microsoft Office PowerPoint</Application>
  <PresentationFormat>Custom</PresentationFormat>
  <Paragraphs>49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HK Grotesk Light</vt:lpstr>
      <vt:lpstr>Gilda Display</vt:lpstr>
      <vt:lpstr>Calibri</vt:lpstr>
      <vt:lpstr>Arial</vt:lpstr>
      <vt:lpstr>HK Grotesk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- CryptoTrack Pro</dc:title>
  <dc:description>Presentation - CryptoTrack Pro</dc:description>
  <cp:lastModifiedBy>Prerana Merukar</cp:lastModifiedBy>
  <cp:revision>6</cp:revision>
  <dcterms:created xsi:type="dcterms:W3CDTF">2006-08-16T00:00:00Z</dcterms:created>
  <dcterms:modified xsi:type="dcterms:W3CDTF">2026-01-29T12:08:30Z</dcterms:modified>
  <dc:identifier>DAG-2hxHv2c</dc:identifier>
</cp:coreProperties>
</file>