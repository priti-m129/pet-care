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9837" y="677605"/>
            <a:ext cx="2160879" cy="1881455"/>
          </a:xfrm>
          <a:custGeom>
            <a:avLst/>
            <a:gdLst/>
            <a:ahLst/>
            <a:cxnLst/>
            <a:rect r="r" b="b" t="t" l="l"/>
            <a:pathLst>
              <a:path h="1881455" w="2160879">
                <a:moveTo>
                  <a:pt x="0" y="0"/>
                </a:moveTo>
                <a:lnTo>
                  <a:pt x="2160879" y="0"/>
                </a:lnTo>
                <a:lnTo>
                  <a:pt x="2160879" y="1881454"/>
                </a:lnTo>
                <a:lnTo>
                  <a:pt x="0" y="1881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9338" y="738142"/>
            <a:ext cx="10065901" cy="130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Padmabhooshan Vasantdada Patil Institute 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 Technology , Bavdhan pune-21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67152" y="2874660"/>
            <a:ext cx="7353697" cy="226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5"/>
              </a:lnSpc>
            </a:pPr>
            <a:r>
              <a:rPr lang="en-US" sz="37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Presentation </a:t>
            </a:r>
          </a:p>
          <a:p>
            <a:pPr algn="ctr">
              <a:lnSpc>
                <a:spcPts val="5775"/>
              </a:lnSpc>
            </a:pPr>
            <a:r>
              <a:rPr lang="en-US" sz="41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</a:t>
            </a:r>
          </a:p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b="true" sz="51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Internship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68016" y="5663116"/>
            <a:ext cx="10847223" cy="449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4"/>
              </a:lnSpc>
            </a:pPr>
            <a:r>
              <a:rPr lang="en-US" sz="3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Internship Title / Domain: </a:t>
            </a:r>
            <a:r>
              <a:rPr lang="en-US" sz="36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Full Stack Java</a:t>
            </a:r>
            <a:r>
              <a:rPr lang="en-US" sz="3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Student Name:</a:t>
            </a:r>
            <a:r>
              <a:rPr lang="en-US" sz="36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Prerana Merukar</a:t>
            </a:r>
          </a:p>
          <a:p>
            <a:pPr algn="l">
              <a:lnSpc>
                <a:spcPts val="5104"/>
              </a:lnSpc>
            </a:pPr>
            <a:r>
              <a:rPr lang="en-US" sz="3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Roll No:-</a:t>
            </a:r>
            <a:r>
              <a:rPr lang="en-US" sz="36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66</a:t>
            </a:r>
          </a:p>
          <a:p>
            <a:pPr algn="l">
              <a:lnSpc>
                <a:spcPts val="5104"/>
              </a:lnSpc>
            </a:pPr>
            <a:r>
              <a:rPr lang="en-US" sz="3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Class:</a:t>
            </a:r>
            <a:r>
              <a:rPr lang="en-US" sz="36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T.E. computer ,Div: A</a:t>
            </a:r>
          </a:p>
          <a:p>
            <a:pPr algn="l">
              <a:lnSpc>
                <a:spcPts val="5104"/>
              </a:lnSpc>
            </a:pPr>
            <a:r>
              <a:rPr lang="en-US" sz="3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Company / Organization:</a:t>
            </a:r>
            <a:r>
              <a:rPr lang="en-US" sz="36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Infosys (Springboard)</a:t>
            </a:r>
          </a:p>
          <a:p>
            <a:pPr algn="l">
              <a:lnSpc>
                <a:spcPts val="5104"/>
              </a:lnSpc>
            </a:pPr>
            <a:r>
              <a:rPr lang="en-US" sz="3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Academic Year: </a:t>
            </a:r>
            <a:r>
              <a:rPr lang="en-US" sz="36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2025–26</a:t>
            </a:r>
          </a:p>
          <a:p>
            <a:pPr algn="l">
              <a:lnSpc>
                <a:spcPts val="51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82998" y="895350"/>
            <a:ext cx="5528072" cy="120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35"/>
              </a:lnSpc>
              <a:spcBef>
                <a:spcPct val="0"/>
              </a:spcBef>
            </a:pPr>
            <a:r>
              <a:rPr lang="en-US" b="true" sz="70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5690" y="2243800"/>
            <a:ext cx="17532310" cy="731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356" indent="-402178" lvl="1">
              <a:lnSpc>
                <a:spcPts val="7302"/>
              </a:lnSpc>
              <a:buFont typeface="Arial"/>
              <a:buChar char="•"/>
            </a:pP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internship focuses on the development of a full-stack Java web application.</a:t>
            </a:r>
          </a:p>
          <a:p>
            <a:pPr algn="l" marL="804356" indent="-402178" lvl="1">
              <a:lnSpc>
                <a:spcPts val="7302"/>
              </a:lnSpc>
              <a:buFont typeface="Arial"/>
              <a:buChar char="•"/>
            </a:pP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project, Crypto tracker pro, is designed to help users manage cryptocurrency portfolios across multiple exchanges.</a:t>
            </a:r>
          </a:p>
          <a:p>
            <a:pPr algn="l" marL="804356" indent="-402178" lvl="1">
              <a:lnSpc>
                <a:spcPts val="7302"/>
              </a:lnSpc>
              <a:buFont typeface="Arial"/>
              <a:buChar char="•"/>
            </a:pP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provides real-time price tracking, profit &amp; loss analysis, and scam risk detection.</a:t>
            </a:r>
          </a:p>
          <a:p>
            <a:pPr algn="l">
              <a:lnSpc>
                <a:spcPts val="7302"/>
              </a:lnSpc>
            </a:pP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Internship Duration:</a:t>
            </a: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01/12/2025 – 01/02/2026</a:t>
            </a:r>
          </a:p>
          <a:p>
            <a:pPr algn="l">
              <a:lnSpc>
                <a:spcPts val="730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0504" y="642628"/>
            <a:ext cx="11498104" cy="100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5"/>
              </a:lnSpc>
              <a:spcBef>
                <a:spcPct val="0"/>
              </a:spcBef>
            </a:pPr>
            <a:r>
              <a:rPr lang="en-US" b="true" sz="59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Company / Organization Profile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4350" y="2974939"/>
            <a:ext cx="17246468" cy="462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b="true" sz="37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Organization Name: </a:t>
            </a:r>
            <a:r>
              <a:rPr lang="en-US" sz="3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Infosys (Springboard)</a:t>
            </a:r>
          </a:p>
          <a:p>
            <a:pPr algn="l">
              <a:lnSpc>
                <a:spcPts val="7482"/>
              </a:lnSpc>
            </a:pPr>
            <a:r>
              <a:rPr lang="en-US" b="true" sz="37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Location: </a:t>
            </a:r>
            <a:r>
              <a:rPr lang="en-US" sz="3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India (Online)</a:t>
            </a:r>
          </a:p>
          <a:p>
            <a:pPr algn="l">
              <a:lnSpc>
                <a:spcPts val="7482"/>
              </a:lnSpc>
            </a:pPr>
            <a:r>
              <a:rPr lang="en-US" b="true" sz="37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Type: </a:t>
            </a:r>
            <a:r>
              <a:rPr lang="en-US" sz="3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Educational &amp; Skill Development Platform</a:t>
            </a:r>
          </a:p>
          <a:p>
            <a:pPr algn="l">
              <a:lnSpc>
                <a:spcPts val="7482"/>
              </a:lnSpc>
            </a:pPr>
            <a:r>
              <a:rPr lang="en-US" b="true" sz="37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Services Offered: </a:t>
            </a:r>
            <a:r>
              <a:rPr lang="en-US" sz="3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Industry-ready training, internships, and hands-on projects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31073" y="923925"/>
            <a:ext cx="6825853" cy="92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5"/>
              </a:lnSpc>
              <a:spcBef>
                <a:spcPct val="0"/>
              </a:spcBef>
            </a:pPr>
            <a:r>
              <a:rPr lang="en-US" b="true" sz="54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Internship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9091" y="3096760"/>
            <a:ext cx="13577208" cy="484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b="true" sz="44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 / Designation:</a:t>
            </a: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Software Development Intern</a:t>
            </a:r>
          </a:p>
          <a:p>
            <a:pPr algn="l">
              <a:lnSpc>
                <a:spcPts val="9897"/>
              </a:lnSpc>
            </a:pPr>
            <a:r>
              <a:rPr lang="en-US" b="true" sz="44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/ Team:</a:t>
            </a: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Full Stack Java Development</a:t>
            </a:r>
          </a:p>
          <a:p>
            <a:pPr algn="l">
              <a:lnSpc>
                <a:spcPts val="9897"/>
              </a:lnSpc>
            </a:pPr>
            <a:r>
              <a:rPr lang="en-US" b="true" sz="44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 / Supervisor:</a:t>
            </a: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Amit Chaman</a:t>
            </a:r>
          </a:p>
          <a:p>
            <a:pPr algn="l">
              <a:lnSpc>
                <a:spcPts val="9897"/>
              </a:lnSpc>
            </a:pPr>
            <a:r>
              <a:rPr lang="en-US" b="true" sz="44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Mode:</a:t>
            </a: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Online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5757" y="933450"/>
            <a:ext cx="9020056" cy="93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5"/>
              </a:lnSpc>
              <a:spcBef>
                <a:spcPct val="0"/>
              </a:spcBef>
            </a:pPr>
            <a:r>
              <a:rPr lang="en-US" b="true" sz="55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&amp; Technologies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0676" y="2970549"/>
            <a:ext cx="12883635" cy="52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356" indent="-402178" lvl="1">
              <a:lnSpc>
                <a:spcPts val="8419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Programming Languages: </a:t>
            </a: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Java, JavaScript</a:t>
            </a:r>
          </a:p>
          <a:p>
            <a:pPr algn="l" marL="804356" indent="-402178" lvl="1">
              <a:lnSpc>
                <a:spcPts val="8419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 </a:t>
            </a: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React.js, Tailwind CSS</a:t>
            </a:r>
          </a:p>
          <a:p>
            <a:pPr algn="l" marL="804356" indent="-402178" lvl="1">
              <a:lnSpc>
                <a:spcPts val="8419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 </a:t>
            </a: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Spring Boot</a:t>
            </a:r>
          </a:p>
          <a:p>
            <a:pPr algn="l" marL="804356" indent="-402178" lvl="1">
              <a:lnSpc>
                <a:spcPts val="8419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 </a:t>
            </a: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MySQL</a:t>
            </a:r>
          </a:p>
          <a:p>
            <a:pPr algn="l" marL="804356" indent="-402178" lvl="1">
              <a:lnSpc>
                <a:spcPts val="8419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APIs: </a:t>
            </a:r>
            <a:r>
              <a:rPr lang="en-US" sz="3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CoinGecko, Binance, Etherscan, CryptoScamDB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60823" y="1122913"/>
            <a:ext cx="7294840" cy="102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5"/>
              </a:lnSpc>
              <a:spcBef>
                <a:spcPct val="0"/>
              </a:spcBef>
            </a:pPr>
            <a:r>
              <a:rPr lang="en-US" b="true" sz="60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9586" y="2590819"/>
            <a:ext cx="17001353" cy="743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4"/>
              </a:lnSpc>
            </a:pPr>
          </a:p>
          <a:p>
            <a:pPr algn="l" marL="695512" indent="-347756" lvl="1">
              <a:lnSpc>
                <a:spcPts val="5766"/>
              </a:lnSpc>
              <a:buFont typeface="Arial"/>
              <a:buChar char="•"/>
            </a:pPr>
            <a:r>
              <a:rPr lang="en-US" b="true" sz="32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Cryptocurrency investors use multiple exchanges and wallets, making portfolio tracking complex.</a:t>
            </a:r>
          </a:p>
          <a:p>
            <a:pPr algn="l" marL="695512" indent="-347756" lvl="1">
              <a:lnSpc>
                <a:spcPts val="5766"/>
              </a:lnSpc>
              <a:buFont typeface="Arial"/>
              <a:buChar char="•"/>
            </a:pPr>
            <a:r>
              <a:rPr lang="en-US" sz="3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Manual tracking of assets, profits, and losses is time-consuming and error-prone.</a:t>
            </a:r>
          </a:p>
          <a:p>
            <a:pPr algn="l" marL="695512" indent="-347756" lvl="1">
              <a:lnSpc>
                <a:spcPts val="5766"/>
              </a:lnSpc>
              <a:buFont typeface="Arial"/>
              <a:buChar char="•"/>
            </a:pPr>
            <a:r>
              <a:rPr lang="en-US" sz="3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is a lack of integrated platforms that provide real-time portfolio analysis with scam and risk detection.</a:t>
            </a:r>
          </a:p>
          <a:p>
            <a:pPr algn="l" marL="695512" indent="-347756" lvl="1">
              <a:lnSpc>
                <a:spcPts val="5766"/>
              </a:lnSpc>
              <a:buFont typeface="Arial"/>
              <a:buChar char="•"/>
            </a:pPr>
            <a:r>
              <a:rPr lang="en-US" sz="3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Investors often face losses due to fraudulent or high-risk tokens without early warnings.</a:t>
            </a:r>
          </a:p>
          <a:p>
            <a:pPr algn="l">
              <a:lnSpc>
                <a:spcPts val="6079"/>
              </a:lnSpc>
            </a:pPr>
          </a:p>
          <a:p>
            <a:pPr algn="l">
              <a:lnSpc>
                <a:spcPts val="60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4448" y="1958961"/>
            <a:ext cx="5858299" cy="7608180"/>
          </a:xfrm>
          <a:custGeom>
            <a:avLst/>
            <a:gdLst/>
            <a:ahLst/>
            <a:cxnLst/>
            <a:rect r="r" b="b" t="t" l="l"/>
            <a:pathLst>
              <a:path h="7608180" w="5858299">
                <a:moveTo>
                  <a:pt x="0" y="0"/>
                </a:moveTo>
                <a:lnTo>
                  <a:pt x="5858298" y="0"/>
                </a:lnTo>
                <a:lnTo>
                  <a:pt x="5858298" y="7608180"/>
                </a:lnTo>
                <a:lnTo>
                  <a:pt x="0" y="7608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31039" y="914400"/>
            <a:ext cx="9358312" cy="104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5"/>
              </a:lnSpc>
              <a:spcBef>
                <a:spcPct val="0"/>
              </a:spcBef>
            </a:pPr>
            <a:r>
              <a:rPr lang="en-US" b="true" sz="61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/ Workflow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51915" y="914400"/>
            <a:ext cx="6205181" cy="104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5"/>
              </a:lnSpc>
              <a:spcBef>
                <a:spcPct val="0"/>
              </a:spcBef>
            </a:pPr>
            <a:r>
              <a:rPr lang="en-US" b="true" sz="61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Performed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40587"/>
            <a:ext cx="15511878" cy="762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b="true" sz="36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Milestone 1:</a:t>
            </a: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Weeks 1–2 – Auth &amp; Connections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Week 1: Auth scaffold, Users/Exchanges/ApiKeys schema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Week 2: Add exchange connectors (Binance first), key encryption at rest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Expected Output: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User can connect an exchange with stored credentials securely.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b="true" sz="36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Milestone 2: </a:t>
            </a: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Weeks 3–4 – Portfolio &amp; Trades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Week 3: Fetch balances → Holdings; manual add/edit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Week 4: Sync recent trades → Trades; compute cost basis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Expected Output: </a:t>
            </a:r>
          </a:p>
          <a:p>
            <a:pPr algn="l">
              <a:lnSpc>
                <a:spcPts val="5075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Accurate holdings + trade history in dashboards.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00170" y="914400"/>
            <a:ext cx="7376279" cy="104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5"/>
              </a:lnSpc>
              <a:spcBef>
                <a:spcPct val="0"/>
              </a:spcBef>
            </a:pPr>
            <a:r>
              <a:rPr lang="en-US" b="true" sz="61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/ 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6583" y="2767877"/>
            <a:ext cx="16922830" cy="567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5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Centralized crypto portfolio management system</a:t>
            </a:r>
          </a:p>
          <a:p>
            <a:pPr algn="l">
              <a:lnSpc>
                <a:spcPts val="11532"/>
              </a:lnSpc>
            </a:pPr>
            <a:r>
              <a:rPr lang="en-US" sz="5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price tracking and historical analysis</a:t>
            </a:r>
          </a:p>
          <a:p>
            <a:pPr algn="l">
              <a:lnSpc>
                <a:spcPts val="11532"/>
              </a:lnSpc>
            </a:pPr>
            <a:r>
              <a:rPr lang="en-US" sz="5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detection of risky and scam tokens</a:t>
            </a:r>
          </a:p>
          <a:p>
            <a:pPr algn="l">
              <a:lnSpc>
                <a:spcPts val="11532"/>
              </a:lnSpc>
            </a:pPr>
            <a:r>
              <a:rPr lang="en-US" sz="5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decision-making for crypto investors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5743" y="914400"/>
            <a:ext cx="7397591" cy="104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5"/>
              </a:lnSpc>
              <a:spcBef>
                <a:spcPct val="0"/>
              </a:spcBef>
            </a:pPr>
            <a:r>
              <a:rPr lang="en-US" b="true" sz="61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80720"/>
            <a:ext cx="17093522" cy="584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5"/>
              </a:lnSpc>
              <a:spcBef>
                <a:spcPct val="0"/>
              </a:spcBef>
            </a:pPr>
            <a:r>
              <a:rPr lang="en-US" sz="55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Gained hands-on experience in full-stack development</a:t>
            </a:r>
          </a:p>
          <a:p>
            <a:pPr algn="l">
              <a:lnSpc>
                <a:spcPts val="7735"/>
              </a:lnSpc>
              <a:spcBef>
                <a:spcPct val="0"/>
              </a:spcBef>
            </a:pPr>
            <a:r>
              <a:rPr lang="en-US" sz="55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Learned secure authentication using JWT</a:t>
            </a:r>
          </a:p>
          <a:p>
            <a:pPr algn="l">
              <a:lnSpc>
                <a:spcPts val="7735"/>
              </a:lnSpc>
              <a:spcBef>
                <a:spcPct val="0"/>
              </a:spcBef>
            </a:pPr>
            <a:r>
              <a:rPr lang="en-US" sz="55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API integration and database design skills</a:t>
            </a:r>
          </a:p>
          <a:p>
            <a:pPr algn="l">
              <a:lnSpc>
                <a:spcPts val="7735"/>
              </a:lnSpc>
              <a:spcBef>
                <a:spcPct val="0"/>
              </a:spcBef>
            </a:pPr>
            <a:r>
              <a:rPr lang="en-US" sz="55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Enhanced problem-solving and teamwork skills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6120" y="736866"/>
            <a:ext cx="6614279" cy="104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5"/>
              </a:lnSpc>
              <a:spcBef>
                <a:spcPct val="0"/>
              </a:spcBef>
            </a:pPr>
            <a:r>
              <a:rPr lang="en-US" b="true" sz="61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Faced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10492"/>
            <a:ext cx="17259300" cy="618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9787" indent="-574894" lvl="1">
              <a:lnSpc>
                <a:spcPts val="9905"/>
              </a:lnSpc>
              <a:buFont typeface="Arial"/>
              <a:buChar char="•"/>
            </a:pPr>
            <a:r>
              <a:rPr lang="en-US" sz="53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Handling multiple external APIs reliably</a:t>
            </a:r>
          </a:p>
          <a:p>
            <a:pPr algn="l" marL="1149787" indent="-574894" lvl="1">
              <a:lnSpc>
                <a:spcPts val="9905"/>
              </a:lnSpc>
              <a:buFont typeface="Arial"/>
              <a:buChar char="•"/>
            </a:pPr>
            <a:r>
              <a:rPr lang="en-US" sz="53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Managing real-time data synchronization</a:t>
            </a:r>
          </a:p>
          <a:p>
            <a:pPr algn="l" marL="1149787" indent="-574894" lvl="1">
              <a:lnSpc>
                <a:spcPts val="9905"/>
              </a:lnSpc>
              <a:buFont typeface="Arial"/>
              <a:buChar char="•"/>
            </a:pPr>
            <a:r>
              <a:rPr lang="en-US" sz="53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Ensuring secure storage of sensitive data</a:t>
            </a:r>
          </a:p>
          <a:p>
            <a:pPr algn="l" marL="1149787" indent="-574894" lvl="1">
              <a:lnSpc>
                <a:spcPts val="9905"/>
              </a:lnSpc>
              <a:buFont typeface="Arial"/>
              <a:buChar char="•"/>
            </a:pPr>
            <a:r>
              <a:rPr lang="en-US" sz="53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Solution: Modular design and secure encryption techniques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32001" y="1092997"/>
            <a:ext cx="5292686" cy="109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5"/>
              </a:lnSpc>
              <a:spcBef>
                <a:spcPct val="0"/>
              </a:spcBef>
            </a:pPr>
            <a:r>
              <a:rPr lang="en-US" b="true" sz="64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94248" y="3520193"/>
            <a:ext cx="15099504" cy="387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03700" indent="-651850" lvl="1">
              <a:lnSpc>
                <a:spcPts val="10446"/>
              </a:lnSpc>
              <a:buFont typeface="Arial"/>
              <a:buChar char="•"/>
            </a:pPr>
            <a:r>
              <a:rPr lang="en-US" sz="60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for more crypto exchanges</a:t>
            </a:r>
          </a:p>
          <a:p>
            <a:pPr algn="l" marL="1303700" indent="-651850" lvl="1">
              <a:lnSpc>
                <a:spcPts val="10446"/>
              </a:lnSpc>
              <a:buFont typeface="Arial"/>
              <a:buChar char="•"/>
            </a:pPr>
            <a:r>
              <a:rPr lang="en-US" sz="60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AI-based risk prediction</a:t>
            </a:r>
          </a:p>
          <a:p>
            <a:pPr algn="l" marL="1303700" indent="-651850" lvl="1">
              <a:lnSpc>
                <a:spcPts val="10446"/>
              </a:lnSpc>
              <a:buFont typeface="Arial"/>
              <a:buChar char="•"/>
            </a:pPr>
            <a:r>
              <a:rPr lang="en-US" sz="60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application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66951" y="914400"/>
            <a:ext cx="7057668" cy="104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5"/>
              </a:lnSpc>
              <a:spcBef>
                <a:spcPct val="0"/>
              </a:spcBef>
            </a:pPr>
            <a:r>
              <a:rPr lang="en-US" b="true" sz="61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Acknowledgement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64943" y="3049103"/>
            <a:ext cx="15558114" cy="520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1"/>
              </a:lnSpc>
            </a:pPr>
            <a:r>
              <a:rPr lang="en-US" b="true" sz="54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Internship Mentor:</a:t>
            </a:r>
          </a:p>
          <a:p>
            <a:pPr algn="l">
              <a:lnSpc>
                <a:spcPts val="10571"/>
              </a:lnSpc>
            </a:pPr>
            <a:r>
              <a:rPr lang="en-US" b="true" sz="54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Coordinator:</a:t>
            </a:r>
          </a:p>
          <a:p>
            <a:pPr algn="l">
              <a:lnSpc>
                <a:spcPts val="10571"/>
              </a:lnSpc>
            </a:pPr>
            <a:r>
              <a:rPr lang="en-US" b="true" sz="54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&amp; College: </a:t>
            </a:r>
            <a:r>
              <a:rPr lang="en-US" sz="5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Computer Eng PVPIT bavdhan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83017" y="1115653"/>
            <a:ext cx="4196715" cy="102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9"/>
              </a:lnSpc>
              <a:spcBef>
                <a:spcPct val="0"/>
              </a:spcBef>
            </a:pPr>
            <a:r>
              <a:rPr lang="en-US" b="true" sz="60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0910" y="3261418"/>
            <a:ext cx="17466179" cy="440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7"/>
              </a:lnSpc>
            </a:pPr>
            <a:r>
              <a:rPr lang="en-US" sz="36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conclude, CryptoTrack pro serves as a comprehensive and intelligent solution for modern crypto investors. It effectively simplifies crypto portfolio management by consolidating assets from multiple exchanges into a single, user-friendly dashboard. By integrating real-time price tracking, profit and loss analysis, and tax-ready reports, the platform enables users to gain clear and accurate financial insights.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5202" y="4626565"/>
            <a:ext cx="3617595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9"/>
              </a:lnSpc>
              <a:spcBef>
                <a:spcPct val="0"/>
              </a:spcBef>
            </a:pPr>
            <a:r>
              <a:rPr lang="en-US" b="true" sz="54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DAHARe5ICKg</dc:identifier>
  <dcterms:modified xsi:type="dcterms:W3CDTF">2011-08-01T06:04:30Z</dcterms:modified>
  <cp:revision>1</cp:revision>
  <dc:title>Padmabhooshan Vasantdada Patil Institute Of Technology , Bavdhan pune-21</dc:title>
</cp:coreProperties>
</file>